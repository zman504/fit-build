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0" r:id="rId2"/>
    <p:sldId id="256" r:id="rId3"/>
    <p:sldId id="257" r:id="rId4"/>
    <p:sldId id="258" r:id="rId5"/>
    <p:sldId id="259" r:id="rId6"/>
    <p:sldId id="268" r:id="rId7"/>
    <p:sldId id="279" r:id="rId8"/>
    <p:sldId id="266" r:id="rId9"/>
    <p:sldId id="291" r:id="rId10"/>
    <p:sldId id="267" r:id="rId11"/>
    <p:sldId id="276" r:id="rId12"/>
    <p:sldId id="271" r:id="rId13"/>
    <p:sldId id="272" r:id="rId14"/>
    <p:sldId id="273" r:id="rId15"/>
    <p:sldId id="274" r:id="rId16"/>
    <p:sldId id="275" r:id="rId17"/>
    <p:sldId id="269" r:id="rId18"/>
    <p:sldId id="270" r:id="rId19"/>
    <p:sldId id="28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D6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D7731-FB0C-4CF0-AF70-B19C97DB7C6D}" v="1" dt="2026-01-20T04:13:10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50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l Assassin" userId="5690f28a2d46df04" providerId="LiveId" clId="{A7E8E471-BDE8-4C87-B9DB-6A5C6DE22FC9}"/>
    <pc:docChg chg="undo redo custSel addSld delSld modSld sldOrd">
      <pc:chgData name="Soul Assassin" userId="5690f28a2d46df04" providerId="LiveId" clId="{A7E8E471-BDE8-4C87-B9DB-6A5C6DE22FC9}" dt="2026-01-20T04:13:10.213" v="4300"/>
      <pc:docMkLst>
        <pc:docMk/>
      </pc:docMkLst>
      <pc:sldChg chg="modSp mod">
        <pc:chgData name="Soul Assassin" userId="5690f28a2d46df04" providerId="LiveId" clId="{A7E8E471-BDE8-4C87-B9DB-6A5C6DE22FC9}" dt="2026-01-20T04:13:10.213" v="4300"/>
        <pc:sldMkLst>
          <pc:docMk/>
          <pc:sldMk cId="0" sldId="256"/>
        </pc:sldMkLst>
        <pc:spChg chg="mod">
          <ac:chgData name="Soul Assassin" userId="5690f28a2d46df04" providerId="LiveId" clId="{A7E8E471-BDE8-4C87-B9DB-6A5C6DE22FC9}" dt="2026-01-20T04:13:10.213" v="4300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DB09E-8E4E-B6F1-3DEF-EC064F940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D912E2-CE0F-9FC8-B43E-07D5277CB837}"/>
              </a:ext>
            </a:extLst>
          </p:cNvPr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800">
                <a:solidFill>
                  <a:srgbClr val="646464"/>
                </a:solidFill>
              </a:defRPr>
            </a:pPr>
            <a:r>
              <a:rPr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3900B307-AAB7-3098-0887-7741791C8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970" y="1038970"/>
            <a:ext cx="4780059" cy="47800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8B4801-27B4-C682-F1A8-DC752F3EDB3E}"/>
              </a:ext>
            </a:extLst>
          </p:cNvPr>
          <p:cNvSpPr txBox="1"/>
          <p:nvPr/>
        </p:nvSpPr>
        <p:spPr>
          <a:xfrm>
            <a:off x="755374" y="378753"/>
            <a:ext cx="7931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“Eat smarter. Live longer with </a:t>
            </a:r>
            <a:r>
              <a:rPr lang="en-US" sz="3600" dirty="0" err="1"/>
              <a:t>LifeClock</a:t>
            </a:r>
            <a:r>
              <a:rPr lang="en-US" sz="3600" dirty="0"/>
              <a:t>.” </a:t>
            </a:r>
          </a:p>
        </p:txBody>
      </p:sp>
    </p:spTree>
    <p:extLst>
      <p:ext uri="{BB962C8B-B14F-4D97-AF65-F5344CB8AC3E}">
        <p14:creationId xmlns:p14="http://schemas.microsoft.com/office/powerpoint/2010/main" val="235830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467600" cy="1143000"/>
          </a:xfrm>
        </p:spPr>
        <p:txBody>
          <a:bodyPr>
            <a:noAutofit/>
          </a:bodyPr>
          <a:lstStyle/>
          <a:p>
            <a:r>
              <a:rPr lang="en-US" sz="3600" dirty="0" err="1"/>
              <a:t>Life</a:t>
            </a:r>
            <a:r>
              <a:rPr sz="3600" dirty="0" err="1"/>
              <a:t>Clock</a:t>
            </a:r>
            <a:r>
              <a:rPr sz="3600" dirty="0"/>
              <a:t> – AI Nutrition &amp; Longevity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5731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Every Meal Adds or Subtracts Minutes of Healthy Life</a:t>
            </a:r>
          </a:p>
          <a:p>
            <a:r>
              <a:rPr dirty="0"/>
              <a:t>Founder: George Luis Gonzalez Jr</a:t>
            </a:r>
            <a:r>
              <a:rPr lang="en-US" dirty="0"/>
              <a:t>, Electrical Engineer, MBA, PMP</a:t>
            </a:r>
          </a:p>
          <a:p>
            <a:r>
              <a:rPr dirty="0"/>
              <a:t>SVG Holdings LLC</a:t>
            </a:r>
            <a:r>
              <a:rPr lang="en-US"/>
              <a:t>, Started in</a:t>
            </a:r>
            <a:r>
              <a:t> </a:t>
            </a:r>
            <a:r>
              <a:rPr dirty="0"/>
              <a:t>202</a:t>
            </a:r>
            <a:r>
              <a:rPr lang="en-US" dirty="0"/>
              <a:t>2</a:t>
            </a:r>
            <a:endParaRPr dirty="0"/>
          </a:p>
          <a:p>
            <a:r>
              <a:rPr dirty="0"/>
              <a:t>Trademark #99486737</a:t>
            </a:r>
            <a:endParaRPr lang="en-US" dirty="0"/>
          </a:p>
          <a:p>
            <a:r>
              <a:rPr dirty="0"/>
              <a:t>Functional Prototype Live</a:t>
            </a:r>
            <a:endParaRPr lang="en-US" dirty="0"/>
          </a:p>
          <a:p>
            <a:r>
              <a:rPr lang="en-US" dirty="0"/>
              <a:t>Copyright: 1-15035234651</a:t>
            </a:r>
          </a:p>
          <a:p>
            <a:r>
              <a:rPr lang="en-US" dirty="0"/>
              <a:t>Patent Pending: 63/943767</a:t>
            </a:r>
          </a:p>
          <a:p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800">
                <a:solidFill>
                  <a:srgbClr val="646464"/>
                </a:solidFill>
              </a:defRPr>
            </a:pPr>
            <a:r>
              <a:t>© 2025 SVG Holdings LLC — Confidential Pitch Deck | George Gonzalez · lifeclock@proton.me · www.my-lifeclock.com · linkedin.com/in/george-gonzalez-ee-mba-pmp-850abb7b</a:t>
            </a:r>
          </a:p>
        </p:txBody>
      </p:sp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395A0E3C-FB59-4B96-07FB-1210E3C13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6094"/>
            <a:ext cx="8229600" cy="4525963"/>
          </a:xfrm>
        </p:spPr>
        <p:txBody>
          <a:bodyPr/>
          <a:lstStyle/>
          <a:p>
            <a:r>
              <a:rPr dirty="0"/>
              <a:t>People track calories—but have no idea what those calories mean for longevity.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Chronic disease and diet-related aging cost &gt;$4 trillion annually.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Wellness apps lack scientific transparency and actionable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800">
                <a:solidFill>
                  <a:srgbClr val="646464"/>
                </a:solidFill>
              </a:defRPr>
            </a:pPr>
            <a:r>
              <a:t>© 2025 SVG Holdings LLC — Confidential Pitch Deck | George Gonzalez · lifeclock@proton.me · www.my-lifeclock.com · linkedin.com/in/george-gonzalez-ee-mba-pmp-850abb7b</a:t>
            </a:r>
          </a:p>
        </p:txBody>
      </p:sp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A1B2743E-66C6-0F23-A612-F50537A05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5243"/>
            <a:ext cx="8229600" cy="4525963"/>
          </a:xfrm>
        </p:spPr>
        <p:txBody>
          <a:bodyPr/>
          <a:lstStyle/>
          <a:p>
            <a:r>
              <a:rPr dirty="0" err="1"/>
              <a:t>LifeClock</a:t>
            </a:r>
            <a:r>
              <a:rPr dirty="0"/>
              <a:t> translates every meal into an easy-to-grasp metric: Minutes added to or subtracted from healthy lifespan.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AI models analyze photo, voice, or text input → nutrients → longevity score → personal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800">
                <a:solidFill>
                  <a:srgbClr val="646464"/>
                </a:solidFill>
              </a:defRPr>
            </a:pPr>
            <a:r>
              <a:t>© 2025 SVG Holdings LLC — Confidential Pitch Deck | George Gonzalez · lifeclock@proton.me · www.my-lifeclock.com · linkedin.com/in/george-gonzalez-ee-mba-pmp-850abb7b</a:t>
            </a:r>
          </a:p>
        </p:txBody>
      </p:sp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A71B1A12-4491-CBCD-E4AB-A0312951E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148" y="209053"/>
            <a:ext cx="5817704" cy="1143000"/>
          </a:xfrm>
        </p:spPr>
        <p:txBody>
          <a:bodyPr>
            <a:normAutofit/>
          </a:bodyPr>
          <a:lstStyle/>
          <a:p>
            <a:r>
              <a:rPr sz="3600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Log meal (via text / photo / voice)</a:t>
            </a:r>
          </a:p>
          <a:p>
            <a:pPr marL="0" indent="0">
              <a:buNone/>
            </a:pPr>
            <a:r>
              <a:rPr dirty="0"/>
              <a:t>2. AI recognizes foods and portions (USDA + </a:t>
            </a:r>
            <a:r>
              <a:rPr lang="en-US" dirty="0"/>
              <a:t>         	</a:t>
            </a:r>
            <a:r>
              <a:rPr dirty="0"/>
              <a:t>OpenAI integration)</a:t>
            </a:r>
          </a:p>
          <a:p>
            <a:pPr marL="0" indent="0">
              <a:buNone/>
            </a:pPr>
            <a:r>
              <a:rPr dirty="0"/>
              <a:t>3. Scoring Engine computes minutes of life </a:t>
            </a:r>
            <a:r>
              <a:rPr lang="en-US" dirty="0"/>
              <a:t>	</a:t>
            </a:r>
            <a:r>
              <a:rPr dirty="0"/>
              <a:t>impact</a:t>
            </a:r>
          </a:p>
          <a:p>
            <a:pPr marL="0" indent="0">
              <a:buNone/>
            </a:pPr>
            <a:r>
              <a:rPr dirty="0"/>
              <a:t>4. App visualizes insights + weekly AI narratives</a:t>
            </a:r>
          </a:p>
          <a:p>
            <a:r>
              <a:rPr dirty="0"/>
              <a:t>[Diagram: </a:t>
            </a:r>
            <a:r>
              <a:rPr lang="en-US" dirty="0"/>
              <a:t>Input Meal</a:t>
            </a:r>
            <a:r>
              <a:rPr dirty="0"/>
              <a:t> → AI → Scoring → Insights → Share]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800">
                <a:solidFill>
                  <a:srgbClr val="646464"/>
                </a:solidFill>
              </a:defRPr>
            </a:pPr>
            <a:r>
              <a:t>© 2025 SVG Holdings LLC — Confidential Pitch Deck | George Gonzalez · lifeclock@proton.me · www.my-lifeclock.com · linkedin.com/in/george-gonzalez-ee-mba-pmp-850abb7b</a:t>
            </a:r>
          </a:p>
        </p:txBody>
      </p:sp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6D5C6845-9B2A-9976-0898-B57C9F16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449FB9-E797-C72E-44E4-D6CF6BFD6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65" y="1153693"/>
            <a:ext cx="3511267" cy="5532782"/>
          </a:xfrm>
          <a:prstGeom prst="rect">
            <a:avLst/>
          </a:prstGeom>
        </p:spPr>
      </p:pic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55F70663-8D68-7942-0E8E-480A8BB11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2591CE4-D8BD-AD97-B1FE-94BCCCF0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275392"/>
            <a:ext cx="5380383" cy="878301"/>
          </a:xfrm>
        </p:spPr>
        <p:txBody>
          <a:bodyPr>
            <a:normAutofit/>
          </a:bodyPr>
          <a:lstStyle/>
          <a:p>
            <a:r>
              <a:rPr lang="en-US" sz="3600" dirty="0"/>
              <a:t>Login Screen</a:t>
            </a:r>
            <a:endParaRPr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65471-925F-6A82-6013-9CF33A7E4C6D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</p:spTree>
    <p:extLst>
      <p:ext uri="{BB962C8B-B14F-4D97-AF65-F5344CB8AC3E}">
        <p14:creationId xmlns:p14="http://schemas.microsoft.com/office/powerpoint/2010/main" val="342773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4E0A7-3491-2422-1786-368C3BB6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3DEA9413-731C-A9D5-B27D-7C10719E2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6311085-89FA-8FBF-8016-96C86484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275392"/>
            <a:ext cx="5380383" cy="878301"/>
          </a:xfrm>
        </p:spPr>
        <p:txBody>
          <a:bodyPr>
            <a:normAutofit/>
          </a:bodyPr>
          <a:lstStyle/>
          <a:p>
            <a:r>
              <a:rPr lang="en-US" sz="3600" dirty="0"/>
              <a:t>Subscription Modal</a:t>
            </a:r>
            <a:endParaRPr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53825-8EA6-CA50-4E39-930FF6AEA787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5B586-9577-933A-9DE0-051971C13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53" y="2175777"/>
            <a:ext cx="4056681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5C8D3A-4D9A-6C2A-C185-23417FBE2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781" y="2175777"/>
            <a:ext cx="402447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7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7ACB02-91AA-388D-5442-258025241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257" y="1104774"/>
            <a:ext cx="4980441" cy="5571007"/>
          </a:xfrm>
          <a:prstGeom prst="rect">
            <a:avLst/>
          </a:prstGeom>
        </p:spPr>
      </p:pic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8A519180-1664-D483-6DD1-C916E6429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B3AE51-531C-700E-42EE-CDC9FB893255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B60FA56-01D4-164E-9166-150C8E94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275392"/>
            <a:ext cx="5380383" cy="878301"/>
          </a:xfrm>
        </p:spPr>
        <p:txBody>
          <a:bodyPr>
            <a:normAutofit/>
          </a:bodyPr>
          <a:lstStyle/>
          <a:p>
            <a:r>
              <a:rPr lang="en-US" sz="3600" dirty="0"/>
              <a:t>Main Dashboard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547852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CDE6-620A-B341-91CA-C3126B5C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55D24A9C-C558-5134-95ED-BCF2E414C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587A29-0B97-C6D7-FD13-80C665DA74AD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20B9AF-D503-0B26-CDD3-C1F16D73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275392"/>
            <a:ext cx="5380383" cy="878301"/>
          </a:xfrm>
        </p:spPr>
        <p:txBody>
          <a:bodyPr>
            <a:normAutofit/>
          </a:bodyPr>
          <a:lstStyle/>
          <a:p>
            <a:r>
              <a:rPr lang="en-US" sz="3600" dirty="0"/>
              <a:t>Main Dashboard cont’d</a:t>
            </a:r>
            <a:endParaRPr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A018FE-1015-2BA6-D2C0-BB46CFFC8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283" y="1050690"/>
            <a:ext cx="3670281" cy="53516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22282A-DE12-2554-006F-CBA203121416}"/>
              </a:ext>
            </a:extLst>
          </p:cNvPr>
          <p:cNvSpPr txBox="1"/>
          <p:nvPr/>
        </p:nvSpPr>
        <p:spPr>
          <a:xfrm>
            <a:off x="291549" y="2763943"/>
            <a:ext cx="39491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Weekly Summary expands for easy access to meal history.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 Day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Alcohol</a:t>
            </a:r>
          </a:p>
        </p:txBody>
      </p:sp>
    </p:spTree>
    <p:extLst>
      <p:ext uri="{BB962C8B-B14F-4D97-AF65-F5344CB8AC3E}">
        <p14:creationId xmlns:p14="http://schemas.microsoft.com/office/powerpoint/2010/main" val="1984202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92B2BDB7-8981-DE3C-26BC-793333A65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DF5DAF-49B8-8718-63E4-9BE07ED3426A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FD7169-2D44-88E6-CA5A-E83237E78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275392"/>
            <a:ext cx="5380383" cy="878301"/>
          </a:xfrm>
        </p:spPr>
        <p:txBody>
          <a:bodyPr>
            <a:normAutofit/>
          </a:bodyPr>
          <a:lstStyle/>
          <a:p>
            <a:r>
              <a:rPr lang="en-US" sz="3600" dirty="0"/>
              <a:t>Main Dashboard cont’d</a:t>
            </a:r>
            <a:endParaRPr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3CFD8F-C492-BD9C-5FAF-3AC2D5CEA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25" y="1959177"/>
            <a:ext cx="6997148" cy="38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888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A8FC94-2D15-4341-BEE6-3732A24C6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880" y="1331843"/>
            <a:ext cx="3449642" cy="5135216"/>
          </a:xfrm>
          <a:prstGeom prst="rect">
            <a:avLst/>
          </a:prstGeom>
        </p:spPr>
      </p:pic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F99D44E6-32AF-98BC-2794-601EF8552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93AE41-B92C-F8B4-A1B5-71FC77CA91DE}"/>
              </a:ext>
            </a:extLst>
          </p:cNvPr>
          <p:cNvSpPr txBox="1"/>
          <p:nvPr/>
        </p:nvSpPr>
        <p:spPr>
          <a:xfrm>
            <a:off x="1513791" y="457387"/>
            <a:ext cx="5335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Meal Analysis in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FA9E51-E1F8-B1C4-52D5-1EC1319BD80D}"/>
              </a:ext>
            </a:extLst>
          </p:cNvPr>
          <p:cNvSpPr txBox="1"/>
          <p:nvPr/>
        </p:nvSpPr>
        <p:spPr>
          <a:xfrm>
            <a:off x="732872" y="2332383"/>
            <a:ext cx="370062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Today’s Meals Features: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Expandible 7 day meal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Longevity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Breakdown of meal ingredients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Macronutrients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micronutrients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Additional nutrients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Positive and negative score drivers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E8DE6F-0244-3DC6-E004-DED66DE30814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</p:spTree>
    <p:extLst>
      <p:ext uri="{BB962C8B-B14F-4D97-AF65-F5344CB8AC3E}">
        <p14:creationId xmlns:p14="http://schemas.microsoft.com/office/powerpoint/2010/main" val="3692052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77762A9F-E270-D0AE-F781-D22736FA7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CCCD71-2105-5541-935A-24873A5A8F0C}"/>
              </a:ext>
            </a:extLst>
          </p:cNvPr>
          <p:cNvSpPr txBox="1"/>
          <p:nvPr/>
        </p:nvSpPr>
        <p:spPr>
          <a:xfrm>
            <a:off x="3145712" y="533094"/>
            <a:ext cx="2852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Meal Analysis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7384F-7E99-EFEA-151F-69D2DA59A774}"/>
              </a:ext>
            </a:extLst>
          </p:cNvPr>
          <p:cNvSpPr txBox="1"/>
          <p:nvPr/>
        </p:nvSpPr>
        <p:spPr>
          <a:xfrm>
            <a:off x="341906" y="2551837"/>
            <a:ext cx="28862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Provide users with: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Meal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Confidence in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Healthy Life impact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Contributing factors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CCBEF7-AFF7-7948-EEFF-22397B097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72191"/>
            <a:ext cx="3684940" cy="42713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83BAC3-1769-44E3-F358-9BA7D1C82B5B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</p:spTree>
    <p:extLst>
      <p:ext uri="{BB962C8B-B14F-4D97-AF65-F5344CB8AC3E}">
        <p14:creationId xmlns:p14="http://schemas.microsoft.com/office/powerpoint/2010/main" val="1365745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ifeclock_logo.png">
            <a:extLst>
              <a:ext uri="{FF2B5EF4-FFF2-40B4-BE49-F238E27FC236}">
                <a16:creationId xmlns:a16="http://schemas.microsoft.com/office/drawing/2014/main" id="{93E83B34-AAD3-42EB-5848-95B11BFAE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0A1959-BFA8-1CA1-7296-137DEC469B2E}"/>
              </a:ext>
            </a:extLst>
          </p:cNvPr>
          <p:cNvSpPr txBox="1"/>
          <p:nvPr/>
        </p:nvSpPr>
        <p:spPr>
          <a:xfrm>
            <a:off x="1747668" y="457387"/>
            <a:ext cx="5648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Meal Analysis Results - </a:t>
            </a:r>
            <a:r>
              <a:rPr lang="en-US" sz="3600" dirty="0" err="1"/>
              <a:t>cont’s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A4160-9F32-250E-CA90-A333EE947246}"/>
              </a:ext>
            </a:extLst>
          </p:cNvPr>
          <p:cNvSpPr txBox="1"/>
          <p:nvPr/>
        </p:nvSpPr>
        <p:spPr>
          <a:xfrm>
            <a:off x="341906" y="2551837"/>
            <a:ext cx="349204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Provide users with: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Driver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Estimated impact on healthy life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Relevant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Longevity science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BBC267-2DA8-86E4-491E-6129CEC9A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929" y="1628913"/>
            <a:ext cx="4621826" cy="46327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01700B-8FAE-9199-C99E-AB0B6286EF96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</p:spTree>
    <p:extLst>
      <p:ext uri="{BB962C8B-B14F-4D97-AF65-F5344CB8AC3E}">
        <p14:creationId xmlns:p14="http://schemas.microsoft.com/office/powerpoint/2010/main" val="513488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23CFD-D605-20C5-2046-D8635862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ifeclock_logo.png">
            <a:extLst>
              <a:ext uri="{FF2B5EF4-FFF2-40B4-BE49-F238E27FC236}">
                <a16:creationId xmlns:a16="http://schemas.microsoft.com/office/drawing/2014/main" id="{664D7A31-B6A7-8B53-FEBB-9A162D23A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E2335B-4F3F-FDE1-FB82-C83E106BAE54}"/>
              </a:ext>
            </a:extLst>
          </p:cNvPr>
          <p:cNvSpPr txBox="1"/>
          <p:nvPr/>
        </p:nvSpPr>
        <p:spPr>
          <a:xfrm>
            <a:off x="1747668" y="457387"/>
            <a:ext cx="5648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Meal Analysis Results - </a:t>
            </a:r>
            <a:r>
              <a:rPr lang="en-US" sz="3600" dirty="0" err="1"/>
              <a:t>cont’s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85AB66-DC39-5F46-5A31-FF07A6134882}"/>
              </a:ext>
            </a:extLst>
          </p:cNvPr>
          <p:cNvSpPr txBox="1"/>
          <p:nvPr/>
        </p:nvSpPr>
        <p:spPr>
          <a:xfrm>
            <a:off x="341906" y="2551837"/>
            <a:ext cx="28559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Provide users with: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Recovery Options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Diet Suggestions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Encouragement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B046F4-EDEB-9D9D-E434-1BB75318C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161" y="2147200"/>
            <a:ext cx="4390228" cy="3497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B87227-54A5-41E1-9BA4-18F8158F3E11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</p:spTree>
    <p:extLst>
      <p:ext uri="{BB962C8B-B14F-4D97-AF65-F5344CB8AC3E}">
        <p14:creationId xmlns:p14="http://schemas.microsoft.com/office/powerpoint/2010/main" val="2496435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ifeclock_logo.png">
            <a:extLst>
              <a:ext uri="{FF2B5EF4-FFF2-40B4-BE49-F238E27FC236}">
                <a16:creationId xmlns:a16="http://schemas.microsoft.com/office/drawing/2014/main" id="{6BF88B98-2120-A0D1-F95D-49BC6CA5E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457520-EDA2-91AF-9BC9-27BADB5FD230}"/>
              </a:ext>
            </a:extLst>
          </p:cNvPr>
          <p:cNvSpPr txBox="1"/>
          <p:nvPr/>
        </p:nvSpPr>
        <p:spPr>
          <a:xfrm>
            <a:off x="2783305" y="457387"/>
            <a:ext cx="3577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Share Card Screen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B1B05D-9AF4-3D2C-E5F5-A0444EE76723}"/>
              </a:ext>
            </a:extLst>
          </p:cNvPr>
          <p:cNvSpPr txBox="1"/>
          <p:nvPr/>
        </p:nvSpPr>
        <p:spPr>
          <a:xfrm>
            <a:off x="441298" y="2413337"/>
            <a:ext cx="328224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Provide users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Editable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Copyable Picture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 via Email, Text,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 with Social Media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TikTok, Instagram, Meta, ..</a:t>
            </a:r>
            <a:r>
              <a:rPr lang="en-US" dirty="0" err="1"/>
              <a:t>ect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4BB2E7-64FE-A882-F10C-1E89FEDB1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948" y="1504122"/>
            <a:ext cx="3611412" cy="46051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83D876-AE14-8EF0-46FB-B3CC386EF02B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</p:spTree>
    <p:extLst>
      <p:ext uri="{BB962C8B-B14F-4D97-AF65-F5344CB8AC3E}">
        <p14:creationId xmlns:p14="http://schemas.microsoft.com/office/powerpoint/2010/main" val="789255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175F34-44DF-B28C-CAD5-2AA36B65C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181" y="1974573"/>
            <a:ext cx="4138445" cy="3899335"/>
          </a:xfrm>
          <a:prstGeom prst="rect">
            <a:avLst/>
          </a:prstGeom>
        </p:spPr>
      </p:pic>
      <p:pic>
        <p:nvPicPr>
          <p:cNvPr id="4" name="Picture 3" descr="lifeclock_logo.png">
            <a:extLst>
              <a:ext uri="{FF2B5EF4-FFF2-40B4-BE49-F238E27FC236}">
                <a16:creationId xmlns:a16="http://schemas.microsoft.com/office/drawing/2014/main" id="{220611D0-BBCA-0300-365F-BEE0FCC34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C02F52-261C-DA89-EB15-386A57CF48B6}"/>
              </a:ext>
            </a:extLst>
          </p:cNvPr>
          <p:cNvSpPr txBox="1"/>
          <p:nvPr/>
        </p:nvSpPr>
        <p:spPr>
          <a:xfrm>
            <a:off x="2475656" y="384314"/>
            <a:ext cx="4192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Achievements Screen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AA9E7C-CFBC-2B87-75DC-0205408FA1D8}"/>
              </a:ext>
            </a:extLst>
          </p:cNvPr>
          <p:cNvSpPr txBox="1"/>
          <p:nvPr/>
        </p:nvSpPr>
        <p:spPr>
          <a:xfrm>
            <a:off x="311426" y="2469082"/>
            <a:ext cx="33395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Provide users with: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Achievement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Potential to unlock free meal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Encourages and rewards good eating habits.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Hydration and reduced alcohol consumption. 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4BAC19-FF54-320E-C7CF-94C2E1EF5F40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</p:spTree>
    <p:extLst>
      <p:ext uri="{BB962C8B-B14F-4D97-AF65-F5344CB8AC3E}">
        <p14:creationId xmlns:p14="http://schemas.microsoft.com/office/powerpoint/2010/main" val="3865929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5430D-4BE3-5464-0D76-E60AEB353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421" y="182880"/>
            <a:ext cx="5063157" cy="6294080"/>
          </a:xfrm>
          <a:prstGeom prst="rect">
            <a:avLst/>
          </a:prstGeom>
        </p:spPr>
      </p:pic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E06A829C-A655-0BC3-F3D3-FF1E38FA4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0DFAD8-A2E2-3C4A-FB75-A9794F6AD719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</p:spTree>
    <p:extLst>
      <p:ext uri="{BB962C8B-B14F-4D97-AF65-F5344CB8AC3E}">
        <p14:creationId xmlns:p14="http://schemas.microsoft.com/office/powerpoint/2010/main" val="510017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659BCB-2ED4-8AE4-3C9A-08AA29C2C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660" y="247486"/>
            <a:ext cx="3492679" cy="6363027"/>
          </a:xfrm>
          <a:prstGeom prst="rect">
            <a:avLst/>
          </a:prstGeom>
        </p:spPr>
      </p:pic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C19665DA-9D37-67A5-E1AB-E65D58B0E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1195346" cy="11953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389AC3-C706-6185-22E8-14D9F44ED8D9}"/>
              </a:ext>
            </a:extLst>
          </p:cNvPr>
          <p:cNvSpPr txBox="1"/>
          <p:nvPr/>
        </p:nvSpPr>
        <p:spPr>
          <a:xfrm>
            <a:off x="530087" y="6626862"/>
            <a:ext cx="8150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lang="en-US"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</p:spTree>
    <p:extLst>
      <p:ext uri="{BB962C8B-B14F-4D97-AF65-F5344CB8AC3E}">
        <p14:creationId xmlns:p14="http://schemas.microsoft.com/office/powerpoint/2010/main" val="695453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525BE-763E-483F-D5C4-95CDA11C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EA43AF-1616-0240-9E8C-B94E77B8BFA0}"/>
              </a:ext>
            </a:extLst>
          </p:cNvPr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800">
                <a:solidFill>
                  <a:srgbClr val="646464"/>
                </a:solidFill>
              </a:defRPr>
            </a:pPr>
            <a:r>
              <a:rPr dirty="0"/>
              <a:t>© 2025 SVG Holdings LLC — Confidential Pitch Deck | George Gonzalez · lifeclock@proton.me · www.my-lifeclock.com · linkedin.com/in/george-gonzalez-ee-mba-pmp-850abb7b</a:t>
            </a:r>
          </a:p>
        </p:txBody>
      </p:sp>
      <p:pic>
        <p:nvPicPr>
          <p:cNvPr id="6" name="Picture 5" descr="lifeclock_logo.png">
            <a:extLst>
              <a:ext uri="{FF2B5EF4-FFF2-40B4-BE49-F238E27FC236}">
                <a16:creationId xmlns:a16="http://schemas.microsoft.com/office/drawing/2014/main" id="{2E80DDCF-F6B1-4B2E-90BF-A996ADD0F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970" y="1038970"/>
            <a:ext cx="4780059" cy="47800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5468DF-7AEE-8A22-46ED-1D3B26FDF202}"/>
              </a:ext>
            </a:extLst>
          </p:cNvPr>
          <p:cNvSpPr txBox="1"/>
          <p:nvPr/>
        </p:nvSpPr>
        <p:spPr>
          <a:xfrm>
            <a:off x="755374" y="378753"/>
            <a:ext cx="7931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“Eat smarter. Live longer with </a:t>
            </a:r>
            <a:r>
              <a:rPr lang="en-US" sz="3600" dirty="0" err="1"/>
              <a:t>LifeClock</a:t>
            </a:r>
            <a:r>
              <a:rPr lang="en-US" sz="3600" dirty="0"/>
              <a:t>.” </a:t>
            </a:r>
          </a:p>
        </p:txBody>
      </p:sp>
    </p:spTree>
    <p:extLst>
      <p:ext uri="{BB962C8B-B14F-4D97-AF65-F5344CB8AC3E}">
        <p14:creationId xmlns:p14="http://schemas.microsoft.com/office/powerpoint/2010/main" val="1882320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986</Words>
  <Application>Microsoft Office PowerPoint</Application>
  <PresentationFormat>On-screen Show (4:3)</PresentationFormat>
  <Paragraphs>108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LifeClock – AI Nutrition &amp; Longevity Tracker</vt:lpstr>
      <vt:lpstr>The Problem</vt:lpstr>
      <vt:lpstr>Our Solution</vt:lpstr>
      <vt:lpstr>How It Works</vt:lpstr>
      <vt:lpstr>Login Screen</vt:lpstr>
      <vt:lpstr>Subscription Modal</vt:lpstr>
      <vt:lpstr>Main Dashboard</vt:lpstr>
      <vt:lpstr>Main Dashboard cont’d</vt:lpstr>
      <vt:lpstr>Main Dashboard cont’d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Soul Assassin</cp:lastModifiedBy>
  <cp:revision>2</cp:revision>
  <dcterms:created xsi:type="dcterms:W3CDTF">2013-01-27T09:14:16Z</dcterms:created>
  <dcterms:modified xsi:type="dcterms:W3CDTF">2026-01-20T05:01:23Z</dcterms:modified>
  <cp:category/>
</cp:coreProperties>
</file>